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9" r:id="rId11"/>
    <p:sldId id="271" r:id="rId12"/>
    <p:sldId id="273" r:id="rId13"/>
    <p:sldId id="274" r:id="rId14"/>
    <p:sldId id="275" r:id="rId15"/>
    <p:sldId id="276" r:id="rId16"/>
    <p:sldId id="279" r:id="rId17"/>
    <p:sldId id="280" r:id="rId18"/>
    <p:sldId id="282" r:id="rId19"/>
    <p:sldId id="283" r:id="rId20"/>
    <p:sldId id="286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533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6434" y="628853"/>
            <a:ext cx="9473565" cy="583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45268" y="6438900"/>
            <a:ext cx="164592" cy="1645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9234" y="271018"/>
            <a:ext cx="7583271" cy="7926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66061" y="1147394"/>
            <a:ext cx="8659876" cy="1585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view?r=eyJrIjoiYTNkNzc2YTItMjBjNS00NzRiLWExNDktMThhOTM0MDZiMzJlIiwidCI6IjQ5ZTkxN2Q1LTQxMDMtNDk4NS1iYzlhLTQ1MTMyNjRlNDUxYiJ9&amp;pageName=59c106a34de2767eb88b" TargetMode="External"/><Relationship Id="rId2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arim-ahmad-8930a7244/?utm_source=share&amp;utm_campaign=share_via&amp;utm_content=profile&amp;utm_medium=android_app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61315" marR="5080" indent="-349250">
              <a:lnSpc>
                <a:spcPts val="5800"/>
              </a:lnSpc>
              <a:spcBef>
                <a:spcPts val="860"/>
              </a:spcBef>
            </a:pPr>
            <a:r>
              <a:rPr dirty="0"/>
              <a:t>Provide</a:t>
            </a:r>
            <a:r>
              <a:rPr spc="-170" dirty="0"/>
              <a:t> </a:t>
            </a:r>
            <a:r>
              <a:rPr dirty="0"/>
              <a:t>Insights</a:t>
            </a:r>
            <a:r>
              <a:rPr spc="-165" dirty="0"/>
              <a:t> </a:t>
            </a:r>
            <a:r>
              <a:rPr dirty="0"/>
              <a:t>&amp;</a:t>
            </a:r>
            <a:r>
              <a:rPr spc="-100" dirty="0"/>
              <a:t> </a:t>
            </a:r>
            <a:r>
              <a:rPr spc="-20" dirty="0"/>
              <a:t>Performance </a:t>
            </a:r>
            <a:r>
              <a:rPr dirty="0"/>
              <a:t>Analysis</a:t>
            </a:r>
            <a:r>
              <a:rPr spc="-204" dirty="0"/>
              <a:t> </a:t>
            </a:r>
            <a:r>
              <a:rPr dirty="0"/>
              <a:t>in</a:t>
            </a:r>
            <a:r>
              <a:rPr spc="-114" dirty="0"/>
              <a:t> </a:t>
            </a:r>
            <a:r>
              <a:rPr spc="-35" dirty="0"/>
              <a:t>Transport</a:t>
            </a:r>
            <a:r>
              <a:rPr spc="-190" dirty="0"/>
              <a:t> </a:t>
            </a:r>
            <a:r>
              <a:rPr spc="-10" dirty="0"/>
              <a:t>Domain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5798" y="4174058"/>
            <a:ext cx="6233160" cy="981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200" spc="-45" dirty="0">
                <a:solidFill>
                  <a:srgbClr val="FFFFFF"/>
                </a:solidFill>
                <a:latin typeface="Calibri"/>
                <a:cs typeface="Calibri"/>
              </a:rPr>
              <a:t>                 Graduation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2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2200" spc="-80" dirty="0">
                <a:solidFill>
                  <a:srgbClr val="FFFFFF"/>
                </a:solidFill>
                <a:latin typeface="Calibri"/>
                <a:cs typeface="Calibri"/>
              </a:rPr>
              <a:t>at </a:t>
            </a:r>
            <a:r>
              <a:rPr lang="en-IN" sz="2200" spc="-80" dirty="0" err="1">
                <a:solidFill>
                  <a:srgbClr val="FFFFFF"/>
                </a:solidFill>
                <a:latin typeface="Calibri"/>
                <a:cs typeface="Calibri"/>
              </a:rPr>
              <a:t>CrackNontech</a:t>
            </a:r>
            <a:r>
              <a:rPr sz="2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endParaRPr sz="2200" dirty="0">
              <a:latin typeface="Calibri"/>
              <a:cs typeface="Calibri"/>
            </a:endParaRPr>
          </a:p>
          <a:p>
            <a:pPr marR="137795" algn="ctr">
              <a:lnSpc>
                <a:spcPct val="100000"/>
              </a:lnSpc>
              <a:spcBef>
                <a:spcPts val="2250"/>
              </a:spcBef>
            </a:pP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Presented</a:t>
            </a:r>
            <a:r>
              <a:rPr sz="2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2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Sarim</a:t>
            </a:r>
            <a:r>
              <a:rPr sz="22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Ahmad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44779"/>
            <a:ext cx="1523999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631" rIns="0" bIns="0" rtlCol="0">
            <a:spAutoFit/>
          </a:bodyPr>
          <a:lstStyle/>
          <a:p>
            <a:pPr marL="4556125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latin typeface="Calibri Light"/>
                <a:cs typeface="Calibri Light"/>
              </a:rPr>
              <a:t>Agenda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635" y="1693291"/>
            <a:ext cx="5247640" cy="4119879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Goal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4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Overview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sz="24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Preview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24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Secondary</a:t>
            </a:r>
            <a:r>
              <a:rPr sz="24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sz="24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Recommendations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Ad-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Hoc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Reports’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Thanking</a:t>
            </a:r>
            <a:r>
              <a:rPr sz="24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Note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631" rIns="0" bIns="0" rtlCol="0">
            <a:spAutoFit/>
          </a:bodyPr>
          <a:lstStyle/>
          <a:p>
            <a:pPr marL="323469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Calibri Light"/>
                <a:cs typeface="Calibri Light"/>
              </a:rPr>
              <a:t>Problem</a:t>
            </a:r>
            <a:r>
              <a:rPr sz="4400" spc="-204" dirty="0">
                <a:latin typeface="Calibri Light"/>
                <a:cs typeface="Calibri Light"/>
              </a:rPr>
              <a:t> </a:t>
            </a:r>
            <a:r>
              <a:rPr sz="4400" spc="-20" dirty="0">
                <a:latin typeface="Calibri Light"/>
                <a:cs typeface="Calibri Light"/>
              </a:rPr>
              <a:t>Statement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635" y="1795399"/>
            <a:ext cx="10263505" cy="33185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22605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Goodcabs,</a:t>
            </a:r>
            <a:r>
              <a:rPr sz="2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cab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company,</a:t>
            </a:r>
            <a:r>
              <a:rPr sz="20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operates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tier-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India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supports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drivers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providing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excellent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passengers.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company</a:t>
            </a:r>
            <a:r>
              <a:rPr sz="20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ambitious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growth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passenger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satisfaction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targets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2024.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000">
              <a:latin typeface="Calibri"/>
              <a:cs typeface="Calibri"/>
            </a:endParaRPr>
          </a:p>
          <a:p>
            <a:pPr marL="12700" marR="282575">
              <a:lnSpc>
                <a:spcPct val="918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Chief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Operations</a:t>
            </a:r>
            <a:r>
              <a:rPr sz="2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immediate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metrics,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including</a:t>
            </a:r>
            <a:r>
              <a:rPr sz="2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trip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volume,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passenger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satisfaction,</a:t>
            </a:r>
            <a:r>
              <a:rPr sz="2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repeat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passenger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rate,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trip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distribution,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balance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between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2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repeat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passengers.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2300"/>
              </a:lnSpc>
            </a:pP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However,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due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manager's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unavailability,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task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been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assigned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analyze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metrics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deliver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actionable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insights.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2928" y="361314"/>
            <a:ext cx="10452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>
                <a:latin typeface="Calibri Light"/>
                <a:cs typeface="Calibri Light"/>
              </a:rPr>
              <a:t>Goal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6757" y="1606041"/>
            <a:ext cx="10280015" cy="31931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0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project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deliver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actionable</a:t>
            </a:r>
            <a:r>
              <a:rPr sz="2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Goodcabs'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performance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0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tier-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cities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by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analyzing key</a:t>
            </a:r>
            <a:r>
              <a:rPr sz="20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metrics,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000" dirty="0">
              <a:latin typeface="Arial MT"/>
              <a:cs typeface="Arial MT"/>
            </a:endParaRPr>
          </a:p>
          <a:p>
            <a:pPr marL="304800" indent="-2921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048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Identify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opportunities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understanding</a:t>
            </a:r>
            <a:r>
              <a:rPr sz="2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trip</a:t>
            </a:r>
            <a:r>
              <a:rPr sz="2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trends.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Clr>
                <a:srgbClr val="FFFFFF"/>
              </a:buClr>
            </a:pP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"/>
              <a:tabLst>
                <a:tab pos="24066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Boost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sz="20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retention</a:t>
            </a: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0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increasing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repeat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passenger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rates.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Clr>
                <a:srgbClr val="FFFFFF"/>
              </a:buClr>
              <a:buFont typeface="Wingdings"/>
              <a:buChar char=""/>
            </a:pP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"/>
              <a:tabLst>
                <a:tab pos="24066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Optimize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r>
              <a:rPr sz="2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0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balancing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new</a:t>
            </a:r>
            <a:r>
              <a:rPr sz="20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repeat</a:t>
            </a:r>
            <a:r>
              <a:rPr sz="20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passenger</a:t>
            </a:r>
            <a:r>
              <a:rPr sz="20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engagement.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FFFFFF"/>
              </a:buClr>
              <a:buFont typeface="Wingdings"/>
              <a:buChar char=""/>
            </a:pP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4066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strategic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decision-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making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achieve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2024</a:t>
            </a:r>
            <a:r>
              <a:rPr sz="2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performance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targets.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0945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Calibri Light"/>
                <a:cs typeface="Calibri Light"/>
              </a:rPr>
              <a:t>Data</a:t>
            </a:r>
            <a:r>
              <a:rPr sz="4400" spc="-225" dirty="0">
                <a:latin typeface="Calibri Light"/>
                <a:cs typeface="Calibri Light"/>
              </a:rPr>
              <a:t> </a:t>
            </a:r>
            <a:r>
              <a:rPr sz="4400" spc="-10" dirty="0">
                <a:latin typeface="Calibri Light"/>
                <a:cs typeface="Calibri Light"/>
              </a:rPr>
              <a:t>Overview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408" y="1577339"/>
            <a:ext cx="6944868" cy="3904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32546" y="2152014"/>
            <a:ext cx="3505835" cy="1744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36195" indent="-228600" algn="just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41300" algn="l"/>
                <a:tab pos="297180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	Dataset</a:t>
            </a:r>
            <a:r>
              <a:rPr sz="160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16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available</a:t>
            </a:r>
            <a:r>
              <a:rPr sz="160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6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160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months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duration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January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2024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June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2024.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Clr>
                <a:srgbClr val="FFFFFF"/>
              </a:buClr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241300" marR="5080" indent="-228600">
              <a:lnSpc>
                <a:spcPct val="100000"/>
              </a:lnSpc>
              <a:buFont typeface="Wingdings"/>
              <a:buChar char=""/>
              <a:tabLst>
                <a:tab pos="241300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1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created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new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table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named</a:t>
            </a:r>
            <a:r>
              <a:rPr sz="160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City</a:t>
            </a:r>
            <a:r>
              <a:rPr sz="16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Category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16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info</a:t>
            </a:r>
            <a:r>
              <a:rPr sz="16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about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(tourism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focused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cities)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22370" y="2935935"/>
            <a:ext cx="47351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0" dirty="0">
                <a:solidFill>
                  <a:srgbClr val="FFFFFF"/>
                </a:solidFill>
                <a:latin typeface="Calibri Light"/>
                <a:cs typeface="Calibri Light"/>
              </a:rPr>
              <a:t>Dashboard</a:t>
            </a:r>
            <a:r>
              <a:rPr sz="4800" spc="-2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Preview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9258" y="4218813"/>
            <a:ext cx="185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Live</a:t>
            </a:r>
            <a:r>
              <a:rPr sz="18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 Dashboard</a:t>
            </a:r>
            <a:r>
              <a:rPr sz="18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8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Link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4351" y="2935935"/>
            <a:ext cx="70516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Calibri Light"/>
                <a:cs typeface="Calibri Light"/>
              </a:rPr>
              <a:t>Primary</a:t>
            </a:r>
            <a:r>
              <a:rPr sz="4800" spc="-190" dirty="0">
                <a:latin typeface="Calibri Light"/>
                <a:cs typeface="Calibri Light"/>
              </a:rPr>
              <a:t> </a:t>
            </a:r>
            <a:r>
              <a:rPr sz="4800" dirty="0">
                <a:latin typeface="Calibri Light"/>
                <a:cs typeface="Calibri Light"/>
              </a:rPr>
              <a:t>Analysis</a:t>
            </a:r>
            <a:r>
              <a:rPr sz="4800" spc="-160" dirty="0">
                <a:latin typeface="Calibri Light"/>
                <a:cs typeface="Calibri Light"/>
              </a:rPr>
              <a:t> </a:t>
            </a:r>
            <a:r>
              <a:rPr sz="4800" dirty="0">
                <a:latin typeface="Calibri Light"/>
                <a:cs typeface="Calibri Light"/>
              </a:rPr>
              <a:t>and</a:t>
            </a:r>
            <a:r>
              <a:rPr sz="4800" spc="-185" dirty="0">
                <a:latin typeface="Calibri Light"/>
                <a:cs typeface="Calibri Light"/>
              </a:rPr>
              <a:t> </a:t>
            </a:r>
            <a:r>
              <a:rPr sz="4800" spc="-10" dirty="0">
                <a:latin typeface="Calibri Light"/>
                <a:cs typeface="Calibri Light"/>
              </a:rPr>
              <a:t>Insights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6434" y="770890"/>
            <a:ext cx="7838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bottom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trips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entire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period.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091" y="1524000"/>
            <a:ext cx="9272016" cy="3810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6434" y="477773"/>
            <a:ext cx="9426575" cy="86550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3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Calculate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fare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trip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city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compare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city's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trip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distance.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8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highest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lowest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fare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trip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assess</a:t>
            </a:r>
            <a:r>
              <a:rPr sz="18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efficiency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across locations.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8900" y="1676400"/>
            <a:ext cx="6934200" cy="42214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6434" y="477773"/>
            <a:ext cx="9852025" cy="86550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algn="just">
              <a:lnSpc>
                <a:spcPct val="103099"/>
              </a:lnSpc>
              <a:spcBef>
                <a:spcPts val="30"/>
              </a:spcBef>
            </a:pPr>
            <a:r>
              <a:rPr lang="en-IN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8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Compare</a:t>
            </a:r>
            <a:r>
              <a:rPr sz="18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8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trips</a:t>
            </a:r>
            <a:r>
              <a:rPr sz="18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taken</a:t>
            </a:r>
            <a:r>
              <a:rPr sz="1800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weekdays</a:t>
            </a:r>
            <a:r>
              <a:rPr sz="18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versus</a:t>
            </a:r>
            <a:r>
              <a:rPr sz="18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weekends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800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city</a:t>
            </a:r>
            <a:r>
              <a:rPr sz="18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18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six-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month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period.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800" spc="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sz="1800" spc="3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3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3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strong</a:t>
            </a:r>
            <a:r>
              <a:rPr sz="1800" spc="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preference</a:t>
            </a:r>
            <a:r>
              <a:rPr sz="1800" spc="3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3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either</a:t>
            </a:r>
            <a:r>
              <a:rPr sz="1800" spc="3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weekend</a:t>
            </a:r>
            <a:r>
              <a:rPr sz="1800" spc="3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3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weekday</a:t>
            </a:r>
            <a:r>
              <a:rPr sz="1800" spc="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trips</a:t>
            </a:r>
            <a:r>
              <a:rPr sz="1800" spc="3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3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understand</a:t>
            </a:r>
            <a:r>
              <a:rPr sz="1800" spc="3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demand variations.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1819655"/>
            <a:ext cx="8560307" cy="41346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6434" y="477773"/>
            <a:ext cx="9856470" cy="86550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algn="just">
              <a:lnSpc>
                <a:spcPct val="103099"/>
              </a:lnSpc>
              <a:spcBef>
                <a:spcPts val="30"/>
              </a:spcBef>
            </a:pPr>
            <a:r>
              <a:rPr lang="en-IN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800" spc="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3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800" spc="3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city,</a:t>
            </a:r>
            <a:r>
              <a:rPr sz="1800" spc="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evaluate</a:t>
            </a:r>
            <a:r>
              <a:rPr sz="1800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monthly</a:t>
            </a:r>
            <a:r>
              <a:rPr sz="1800" spc="3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18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against</a:t>
            </a:r>
            <a:r>
              <a:rPr sz="1800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targets</a:t>
            </a:r>
            <a:r>
              <a:rPr sz="18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8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trips,</a:t>
            </a:r>
            <a:r>
              <a:rPr sz="1800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800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passengers,</a:t>
            </a:r>
            <a:r>
              <a:rPr sz="1800" spc="3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passenger</a:t>
            </a:r>
            <a:r>
              <a:rPr sz="18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ratings.</a:t>
            </a:r>
            <a:r>
              <a:rPr sz="18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Determine</a:t>
            </a:r>
            <a:r>
              <a:rPr sz="180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800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metric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met,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exceeded,</a:t>
            </a:r>
            <a:r>
              <a:rPr sz="18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missed</a:t>
            </a:r>
            <a:r>
              <a:rPr sz="180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target,</a:t>
            </a:r>
            <a:r>
              <a:rPr sz="18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calculate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percentage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difference.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2138172"/>
            <a:ext cx="7772400" cy="33314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8635" y="2818892"/>
            <a:ext cx="897572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0" dirty="0">
                <a:latin typeface="Calibri"/>
                <a:cs typeface="Calibri"/>
              </a:rPr>
              <a:t>Secondary</a:t>
            </a:r>
            <a:r>
              <a:rPr sz="4300" spc="-180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Analysis</a:t>
            </a:r>
            <a:r>
              <a:rPr sz="4300" spc="-150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&amp;</a:t>
            </a:r>
            <a:r>
              <a:rPr sz="4300" spc="-220" dirty="0">
                <a:latin typeface="Calibri"/>
                <a:cs typeface="Calibri"/>
              </a:rPr>
              <a:t> </a:t>
            </a:r>
            <a:r>
              <a:rPr sz="4300" spc="-10" dirty="0">
                <a:latin typeface="Calibri"/>
                <a:cs typeface="Calibri"/>
              </a:rPr>
              <a:t>Recommendations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0054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90" dirty="0"/>
              <a:t> </a:t>
            </a:r>
            <a:r>
              <a:rPr dirty="0"/>
              <a:t>Factors</a:t>
            </a:r>
            <a:r>
              <a:rPr spc="-90" dirty="0"/>
              <a:t> </a:t>
            </a:r>
            <a:r>
              <a:rPr dirty="0"/>
              <a:t>Influencing</a:t>
            </a:r>
            <a:r>
              <a:rPr spc="-40" dirty="0"/>
              <a:t> </a:t>
            </a:r>
            <a:r>
              <a:rPr dirty="0"/>
              <a:t>Repeat</a:t>
            </a:r>
            <a:r>
              <a:rPr spc="-60" dirty="0"/>
              <a:t> </a:t>
            </a:r>
            <a:r>
              <a:rPr dirty="0"/>
              <a:t>Passenger</a:t>
            </a:r>
            <a:r>
              <a:rPr spc="-45" dirty="0"/>
              <a:t> </a:t>
            </a:r>
            <a:r>
              <a:rPr spc="-10" dirty="0"/>
              <a:t>Rates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3768" y="1439417"/>
            <a:ext cx="10541000" cy="3627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4066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points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repeat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passenger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count,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passenger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ratings,</a:t>
            </a:r>
            <a:r>
              <a:rPr sz="16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city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demographics,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6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patterns.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45"/>
              </a:spcBef>
              <a:buFont typeface="Wingdings"/>
              <a:buChar char=""/>
            </a:pP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Insights: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Higher</a:t>
            </a:r>
            <a:r>
              <a:rPr sz="16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repeat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passenger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rates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correlate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better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passenger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ratings,</a:t>
            </a:r>
            <a:r>
              <a:rPr sz="16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indicating</a:t>
            </a:r>
            <a:r>
              <a:rPr sz="16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sz="1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service.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Competitive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might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attract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repeat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passengers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price-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sensitive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demographic.</a:t>
            </a:r>
            <a:endParaRPr sz="1600">
              <a:latin typeface="Calibri"/>
              <a:cs typeface="Calibri"/>
            </a:endParaRPr>
          </a:p>
          <a:p>
            <a:pPr marL="241300" marR="261620" indent="-228600">
              <a:lnSpc>
                <a:spcPts val="170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Socioeconomic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factors: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sz="16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higher-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income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groups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prefer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premium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services,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whereas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lower-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income</a:t>
            </a:r>
            <a:r>
              <a:rPr sz="16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groups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may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prefer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cost-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effective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services.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Lifestyle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patterns: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professional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populations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(e.g.,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hubs)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show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consistent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repeat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usage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during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weekdays.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0"/>
              </a:spcBef>
            </a:pP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Recommendation: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Focus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improving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sz="1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offering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personalized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plans</a:t>
            </a:r>
            <a:r>
              <a:rPr sz="1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lower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repeat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rates.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2731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55" dirty="0"/>
              <a:t> </a:t>
            </a:r>
            <a:r>
              <a:rPr dirty="0"/>
              <a:t>Tourism</a:t>
            </a:r>
            <a:r>
              <a:rPr spc="-75" dirty="0"/>
              <a:t> </a:t>
            </a:r>
            <a:r>
              <a:rPr dirty="0"/>
              <a:t>vs.</a:t>
            </a:r>
            <a:r>
              <a:rPr spc="-55" dirty="0"/>
              <a:t> </a:t>
            </a:r>
            <a:r>
              <a:rPr dirty="0"/>
              <a:t>Business</a:t>
            </a:r>
            <a:r>
              <a:rPr spc="-25" dirty="0"/>
              <a:t> </a:t>
            </a:r>
            <a:r>
              <a:rPr dirty="0"/>
              <a:t>Demand</a:t>
            </a:r>
            <a:r>
              <a:rPr spc="-15" dirty="0"/>
              <a:t> </a:t>
            </a:r>
            <a:r>
              <a:rPr spc="-10" dirty="0"/>
              <a:t>Impact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3768" y="1786254"/>
            <a:ext cx="9441180" cy="3038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40665" algn="l"/>
              </a:tabLst>
            </a:pP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Cross-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referenced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trip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6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6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event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calendars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(festivals,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conferences,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 tourism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seasons)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months.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45"/>
              </a:spcBef>
              <a:buFont typeface="Wingdings"/>
              <a:buChar char=""/>
            </a:pP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41300" algn="l"/>
              </a:tabLst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Insights: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sz="1600" b="1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600" b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tourism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activities</a:t>
            </a:r>
            <a:r>
              <a:rPr sz="1600" b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(e.g.,</a:t>
            </a:r>
            <a:r>
              <a:rPr sz="16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Jaipur,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Kochi)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show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demand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spikes</a:t>
            </a:r>
            <a:r>
              <a:rPr sz="16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during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 festive</a:t>
            </a:r>
            <a:r>
              <a:rPr sz="16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seasons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6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vacations.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Business-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oriented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sz="16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(e.g.,</a:t>
            </a:r>
            <a:r>
              <a:rPr sz="16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Lucknow,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Surat)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show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consistent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weekday</a:t>
            </a:r>
            <a:r>
              <a:rPr sz="16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demand.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40665" algn="l"/>
              </a:tabLst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Recommendation: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Tailor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marketing efforts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highlight</a:t>
            </a:r>
            <a:r>
              <a:rPr sz="16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tourism-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related</a:t>
            </a:r>
            <a:r>
              <a:rPr sz="16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campaigns</a:t>
            </a:r>
            <a:r>
              <a:rPr sz="16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high-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demand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periods.</a:t>
            </a:r>
            <a:endParaRPr sz="1600">
              <a:latin typeface="Calibri"/>
              <a:cs typeface="Calibri"/>
            </a:endParaRPr>
          </a:p>
          <a:p>
            <a:pPr marL="281940" indent="-269240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81940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offer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flexible</a:t>
            </a:r>
            <a:r>
              <a:rPr sz="1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travelers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e.g.,</a:t>
            </a:r>
            <a:r>
              <a:rPr sz="1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loyalty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program,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ride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packages</a:t>
            </a:r>
            <a:r>
              <a:rPr sz="1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conferences.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9234" y="759333"/>
            <a:ext cx="5440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00" spc="-25" dirty="0">
                <a:solidFill>
                  <a:srgbClr val="000000"/>
                </a:solidFill>
                <a:latin typeface="Calibri"/>
                <a:cs typeface="Calibri"/>
              </a:rPr>
              <a:t>3.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>
                <a:latin typeface="Calibri"/>
                <a:cs typeface="Calibri"/>
              </a:rPr>
              <a:t>3.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Emerging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Mobility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Trends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Goodcabs'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Adaptation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3768" y="1798447"/>
            <a:ext cx="10602595" cy="3150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86385" algn="l"/>
              </a:tabLst>
            </a:pP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Evaluate</a:t>
            </a:r>
            <a:r>
              <a:rPr sz="16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trends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1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adoption</a:t>
            </a:r>
            <a:r>
              <a:rPr sz="16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electric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vehicles,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passenger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preferences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green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energy,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emerging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mobility</a:t>
            </a:r>
            <a:r>
              <a:rPr sz="1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needs.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45"/>
              </a:spcBef>
              <a:buFont typeface="Wingdings"/>
              <a:buChar char=""/>
            </a:pP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41300" algn="l"/>
              </a:tabLst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Insights:</a:t>
            </a:r>
            <a:endParaRPr sz="1800">
              <a:latin typeface="Calibri"/>
              <a:cs typeface="Calibri"/>
            </a:endParaRPr>
          </a:p>
          <a:p>
            <a:pPr marL="241300" marR="20320" indent="-228600">
              <a:lnSpc>
                <a:spcPts val="170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Electric</a:t>
            </a:r>
            <a:r>
              <a:rPr sz="16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Vehicle</a:t>
            </a:r>
            <a:r>
              <a:rPr sz="16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(EV)</a:t>
            </a:r>
            <a:r>
              <a:rPr sz="1600" b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Adoption: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Growing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preference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green</a:t>
            </a:r>
            <a:r>
              <a:rPr sz="16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transport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tier-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6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cities.</a:t>
            </a:r>
            <a:r>
              <a:rPr sz="16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EV</a:t>
            </a:r>
            <a:r>
              <a:rPr sz="16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could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reduce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operational</a:t>
            </a:r>
            <a:r>
              <a:rPr sz="16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costs</a:t>
            </a:r>
            <a:r>
              <a:rPr sz="16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appeal</a:t>
            </a:r>
            <a:r>
              <a:rPr sz="16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environmentally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conscious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passengers.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Sustainability</a:t>
            </a:r>
            <a:r>
              <a:rPr sz="16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Focus: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Eco-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conscious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passengers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favor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ride-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sharing and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low-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emission</a:t>
            </a:r>
            <a:r>
              <a:rPr sz="1600" b="1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options.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Recommendation: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ts val="1800"/>
              </a:lnSpc>
              <a:spcBef>
                <a:spcPts val="855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Gradually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integrate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electric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hybrid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vehicles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tier-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stay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competitive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consider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offering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discounts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eco-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friendly Rides.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0760" y="2772536"/>
            <a:ext cx="64846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75" dirty="0">
                <a:latin typeface="Calibri"/>
                <a:cs typeface="Calibri"/>
              </a:rPr>
              <a:t>Ad-</a:t>
            </a:r>
            <a:r>
              <a:rPr sz="4800" dirty="0">
                <a:latin typeface="Calibri"/>
                <a:cs typeface="Calibri"/>
              </a:rPr>
              <a:t>Hoc</a:t>
            </a:r>
            <a:r>
              <a:rPr sz="4800" spc="15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Business</a:t>
            </a:r>
            <a:r>
              <a:rPr sz="4800" spc="-15" dirty="0">
                <a:latin typeface="Calibri"/>
                <a:cs typeface="Calibri"/>
              </a:rPr>
              <a:t> </a:t>
            </a:r>
            <a:r>
              <a:rPr sz="4800" spc="-10" dirty="0">
                <a:latin typeface="Calibri"/>
                <a:cs typeface="Calibri"/>
              </a:rPr>
              <a:t>Requests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6434" y="614798"/>
            <a:ext cx="9232900" cy="60261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Generate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displays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trips,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fare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km,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fare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trip,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percentage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contribution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city's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trips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overall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trips.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2264" y="1874520"/>
            <a:ext cx="7912861" cy="322554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7348" y="438658"/>
            <a:ext cx="9672955" cy="1022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35"/>
              </a:spcBef>
            </a:pPr>
            <a:r>
              <a:rPr lang="en-IN" sz="16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6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Generate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shows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percentage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r>
              <a:rPr sz="1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repeat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passengers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trips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have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taken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city.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Calculate</a:t>
            </a:r>
            <a:r>
              <a:rPr sz="16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percentage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repeat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passengers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who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took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trips,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trips,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on,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trips.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6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16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represent</a:t>
            </a:r>
            <a:r>
              <a:rPr sz="16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trip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count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category,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displaying</a:t>
            </a:r>
            <a:r>
              <a:rPr sz="16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percentage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repeat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passengers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who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fall</a:t>
            </a:r>
            <a:r>
              <a:rPr sz="1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category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out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repeat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passengers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city.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96" y="2281427"/>
            <a:ext cx="9741408" cy="32232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6434" y="477773"/>
            <a:ext cx="9686925" cy="86550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indent="51435">
              <a:lnSpc>
                <a:spcPct val="103099"/>
              </a:lnSpc>
              <a:spcBef>
                <a:spcPts val="30"/>
              </a:spcBef>
            </a:pPr>
            <a:r>
              <a:rPr lang="en-IN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Generate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calculates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passengers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city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ranks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this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value.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highest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passengers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well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bottom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cities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lowest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passengers,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categorizing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"Top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3"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"Bottom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3"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accordingly.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1132" y="2538983"/>
            <a:ext cx="6269736" cy="25527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90591" y="2772536"/>
            <a:ext cx="25876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Calibri"/>
                <a:cs typeface="Calibri"/>
              </a:rPr>
              <a:t>Thank</a:t>
            </a:r>
            <a:r>
              <a:rPr sz="4800" spc="-229" dirty="0">
                <a:latin typeface="Calibri"/>
                <a:cs typeface="Calibri"/>
              </a:rPr>
              <a:t> </a:t>
            </a:r>
            <a:r>
              <a:rPr sz="4800" spc="-25" dirty="0">
                <a:latin typeface="Calibri"/>
                <a:cs typeface="Calibri"/>
              </a:rPr>
              <a:t>You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90378" y="6418656"/>
            <a:ext cx="9804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Sarim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Ahmad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922</Words>
  <Application>Microsoft Office PowerPoint</Application>
  <PresentationFormat>Widescreen</PresentationFormat>
  <Paragraphs>96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MT</vt:lpstr>
      <vt:lpstr>Calibri</vt:lpstr>
      <vt:lpstr>Calibri Light</vt:lpstr>
      <vt:lpstr>Wingdings</vt:lpstr>
      <vt:lpstr>Office Theme</vt:lpstr>
      <vt:lpstr>PowerPoint Presentation</vt:lpstr>
      <vt:lpstr>Agenda</vt:lpstr>
      <vt:lpstr>Problem Statement</vt:lpstr>
      <vt:lpstr>Goal</vt:lpstr>
      <vt:lpstr>Data Overview</vt:lpstr>
      <vt:lpstr>PowerPoint Presentation</vt:lpstr>
      <vt:lpstr>Primary Analysis and Insights</vt:lpstr>
      <vt:lpstr>PowerPoint Presentation</vt:lpstr>
      <vt:lpstr>PowerPoint Presentation</vt:lpstr>
      <vt:lpstr>PowerPoint Presentation</vt:lpstr>
      <vt:lpstr>PowerPoint Presentation</vt:lpstr>
      <vt:lpstr>Secondary Analysis &amp; Recommendations</vt:lpstr>
      <vt:lpstr>1. Factors Influencing Repeat Passenger Rates</vt:lpstr>
      <vt:lpstr>2. Tourism vs. Business Demand Impact</vt:lpstr>
      <vt:lpstr>3. 3. Emerging Mobility Trends and Goodcabs' Adaptation</vt:lpstr>
      <vt:lpstr>Ad-Hoc Business Requests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Puranjoy Patra</dc:creator>
  <cp:lastModifiedBy>Sarim Ahmad</cp:lastModifiedBy>
  <cp:revision>3</cp:revision>
  <dcterms:created xsi:type="dcterms:W3CDTF">2025-10-15T12:13:36Z</dcterms:created>
  <dcterms:modified xsi:type="dcterms:W3CDTF">2025-10-15T12:46:36Z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2025-07-31T00:00:00Z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2025-10-15T00:00:00Z</vt:filetime>
  </property>
  <property fmtid="{D5CDD505-2E9C-101B-9397-08002B2CF9AE}" pid="5" name="Producer">
    <vt:lpwstr>Microsoft® PowerPoint® LTSC</vt:lpwstr>
  </property>
</Properties>
</file>